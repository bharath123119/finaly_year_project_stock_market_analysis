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0" r:id="rId6"/>
    <p:sldId id="262" r:id="rId7"/>
    <p:sldId id="263" r:id="rId8"/>
    <p:sldId id="264" r:id="rId9"/>
    <p:sldId id="265" r:id="rId10"/>
    <p:sldId id="266" r:id="rId11"/>
    <p:sldId id="267" r:id="rId12"/>
    <p:sldId id="268" r:id="rId13"/>
    <p:sldId id="269"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235" y="230346"/>
            <a:ext cx="7669530" cy="813911"/>
          </a:xfrm>
        </p:spPr>
        <p:txBody>
          <a:bodyPr>
            <a:noAutofit/>
          </a:bodyPr>
          <a:lstStyle/>
          <a:p>
            <a:pPr algn="ctr"/>
            <a:r>
              <a:rPr lang="en-IN" altLang="en-US" sz="3200" b="1" dirty="0">
                <a:latin typeface="Times New Roman" panose="02020603050405020304" pitchFamily="18" charset="0"/>
                <a:cs typeface="Times New Roman" panose="02020603050405020304" pitchFamily="18" charset="0"/>
              </a:rPr>
              <a:t>OBJECTIVE</a:t>
            </a:r>
            <a:endParaRPr lang="en-IN" alt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221423"/>
            <a:ext cx="7886700" cy="3263504"/>
          </a:xfrm>
        </p:spPr>
        <p:txBody>
          <a:bodyPr>
            <a:normAutofit fontScale="25000"/>
          </a:bodyPr>
          <a:lstStyle/>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Analyze and visualize stock market data using data science tools.</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Collect and integrate both historical and real-time stock market data.</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Clean, preprocess, and transform raw financial data into meaningful insights.</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Apply statistical analysis and machine learning techniques to identify patterns, trends, and potential market movements.</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Detect investment opportunities and assess market risks through analytical methods.</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Develop interactive visualizations and dashboards for easy interpretation of financial data.</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Present clear, intuitive representations of stock performance and predictive insights.</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Enable investors and analysts to make informed, data-driven investment decisions.</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Provide a user-friendly system that simplifies complex financial information.</a:t>
            </a:r>
            <a:endParaRPr lang="en-US" altLang="en-US" sz="640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6400">
                <a:latin typeface="Times New Roman" panose="02020603050405020304" pitchFamily="18" charset="0"/>
                <a:cs typeface="Times New Roman" panose="02020603050405020304" pitchFamily="18" charset="0"/>
                <a:sym typeface="+mn-ea"/>
              </a:rPr>
              <a:t>Enhance market understanding and support strategic decision-making.</a:t>
            </a:r>
            <a:endParaRPr lang="en-US" sz="6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3200" b="1">
                <a:latin typeface="Times New Roman" panose="02020603050405020304" pitchFamily="18" charset="0"/>
                <a:cs typeface="Times New Roman" panose="02020603050405020304" pitchFamily="18" charset="0"/>
              </a:rPr>
              <a:t>ABSTRACT</a:t>
            </a:r>
            <a:endParaRPr lang="en-IN" alt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536065"/>
            <a:ext cx="7886700" cy="4583430"/>
          </a:xfrm>
        </p:spPr>
        <p:txBody>
          <a:bodyPr>
            <a:noAutofit/>
          </a:bodyPr>
          <a:p>
            <a:pPr marL="0" indent="0" algn="l">
              <a:lnSpc>
                <a:spcPct val="110000"/>
              </a:lnSpc>
              <a:buNone/>
            </a:pPr>
            <a:r>
              <a:rPr lang="en-US" altLang="en-US" sz="1500"/>
              <a:t>Market analysis is a crucial component for businesses to understand consumer behavior, identify trends, and make informed decisions. Traditional methods of analyzing market data are often manual, time_x0002_consuming, and lack the ability to process large volumes of dynamic data efficiently. With the emergence of data science, advanced tools can now transform raw data into meaningful insights in real time. The</a:t>
            </a:r>
            <a:r>
              <a:rPr lang="en-IN" altLang="en-US" sz="1500"/>
              <a:t> </a:t>
            </a:r>
            <a:r>
              <a:rPr lang="en-US" altLang="en-US" sz="1500"/>
              <a:t>project “Smart Market Analysis and Visualization Using Data Science Tools” focuses on developing a system that leverages modern data science techniques to analyze market patterns, customer preferences, and competitive landscapes while presenting results through interactive visualizations. It emphasizes actionable insights, trend prediction, and decision support for business growth. Existing systems rely heavily on static reports, spreadsheets, and limited visualization techniques, which fail to capture real-time dynamics and provide predictive analysis. The proposed system integrates big data platforms with tools like Python, R, Tableau, and Power BI to enable dynamic dashboards, automated reporting, and AI-driven insights for smarter market decision-making. Algorithms such as Sentiment Analysis using NLP, Clustering with K-Means, Association Rule Mining, and Time Series Forecasting are applied to discover patterns, segment customers, and predict future market demands. This intelligent approach empowers organizations with data-driven strategies, improved competitiveness, and enhanced business outcomes. </a:t>
            </a:r>
            <a:endParaRPr lang="en-US" altLang="en-US" sz="1500"/>
          </a:p>
          <a:p>
            <a:pPr marL="0" indent="0" algn="l">
              <a:lnSpc>
                <a:spcPct val="110000"/>
              </a:lnSpc>
              <a:buNone/>
            </a:pPr>
            <a:r>
              <a:rPr lang="en-US" altLang="en-US" sz="1500" b="1"/>
              <a:t>Keywords</a:t>
            </a:r>
            <a:r>
              <a:rPr lang="en-US" altLang="en-US" sz="1500"/>
              <a:t>: Market Analysis, Data Science, Data Visualization, Sentiment Analysis, Predictive Analytics,</a:t>
            </a:r>
            <a:r>
              <a:rPr lang="en-IN" altLang="en-US" sz="1500"/>
              <a:t> </a:t>
            </a:r>
            <a:r>
              <a:rPr lang="en-US" altLang="en-US" sz="1500"/>
              <a:t>Business Intelligence, Customer Segmentation.</a:t>
            </a:r>
            <a:endParaRPr lang="en-US" altLang="en-US"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cap="all"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Existing System</a:t>
            </a:r>
            <a:endParaRPr kumimoji="0" lang="en-US" sz="4400" b="0" i="0" cap="all"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3" name="Rectangle 2"/>
          <p:cNvSpPr/>
          <p:nvPr/>
        </p:nvSpPr>
        <p:spPr>
          <a:xfrm>
            <a:off x="685800" y="1752600"/>
            <a:ext cx="8077200" cy="646331"/>
          </a:xfrm>
          <a:prstGeom prst="rect">
            <a:avLst/>
          </a:prstGeom>
        </p:spPr>
        <p:txBody>
          <a:bodyPr wrap="square">
            <a:spAutoFit/>
          </a:bodyPr>
          <a:lstStyle/>
          <a:p>
            <a:pPr marL="285750" lvl="0" indent="-285750">
              <a:spcBef>
                <a:spcPct val="0"/>
              </a:spcBef>
              <a:buFont typeface="Wingdings" panose="05000000000000000000" pitchFamily="2" charset="2"/>
              <a:buChar char="Ø"/>
              <a:defRPr/>
            </a:pPr>
            <a:endParaRPr lang="en-US" dirty="0">
              <a:latin typeface="Times New Roman" panose="02020603050405020304" pitchFamily="18" charset="0"/>
              <a:cs typeface="Times New Roman" panose="02020603050405020304" pitchFamily="18" charset="0"/>
            </a:endParaRPr>
          </a:p>
          <a:p>
            <a:pPr marL="285750" lvl="0" indent="-285750">
              <a:spcBef>
                <a:spcPct val="0"/>
              </a:spcBef>
              <a:buFont typeface="Wingdings" panose="05000000000000000000" pitchFamily="2" charset="2"/>
              <a:buChar char="Ø"/>
              <a:defRPr/>
            </a:pPr>
            <a:endParaRPr lang="en-US"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795020" y="1330325"/>
            <a:ext cx="7967980" cy="4661535"/>
          </a:xfrm>
          <a:prstGeom prst="rect">
            <a:avLst/>
          </a:prstGeom>
          <a:noFill/>
        </p:spPr>
        <p:txBody>
          <a:bodyPr wrap="square" rtlCol="0">
            <a:spAutoFit/>
          </a:bodyPr>
          <a:lstStyle/>
          <a:p>
            <a:pPr algn="just">
              <a:lnSpc>
                <a:spcPct val="150000"/>
              </a:lnSpc>
            </a:pPr>
            <a:r>
              <a:rPr lang="en-US" altLang="en-US">
                <a:latin typeface="Times New Roman" panose="02020603050405020304" pitchFamily="18" charset="0"/>
                <a:cs typeface="Times New Roman" panose="02020603050405020304" pitchFamily="18" charset="0"/>
              </a:rPr>
              <a:t>Currently, stock market analysis is primarily performed using traditional financial tools, manual charts, and static reports provided by stock exchanges or financial platforms. Investors and analysts often rely on historical data tables, candlestick charts, and basic technical indicators to make trading decisions. While some platforms provide automated alerts or predictive models, most existing systems lack integration with advanced machine learning algorithms for accurate forecasting. Additionally, real-time visualization and interactive dashboards are either limited or not user-friendly, making it difficult to analyze multiple stocks, indicators, and trends simultaneously. As a result, existing solutions do not provide a comprehensive, data-driven approach that combines prediction, visualization, and real-time analysis in a single platform.</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white_background"/>
          <p:cNvPicPr>
            <a:picLocks noChangeAspect="1"/>
          </p:cNvPicPr>
          <p:nvPr/>
        </p:nvPicPr>
        <p:blipFill>
          <a:blip r:embed="rId1"/>
          <a:stretch>
            <a:fillRect/>
          </a:stretch>
        </p:blipFill>
        <p:spPr>
          <a:xfrm>
            <a:off x="0" y="635"/>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0" cap="all"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Proposed Methodology</a:t>
            </a:r>
            <a:endParaRPr kumimoji="0" lang="en-US" sz="3200" b="1" i="0" cap="all"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3" name="Rectangle 2"/>
          <p:cNvSpPr/>
          <p:nvPr/>
        </p:nvSpPr>
        <p:spPr>
          <a:xfrm>
            <a:off x="457200" y="1524000"/>
            <a:ext cx="8077200" cy="1200329"/>
          </a:xfrm>
          <a:prstGeom prst="rect">
            <a:avLst/>
          </a:prstGeom>
        </p:spPr>
        <p:txBody>
          <a:bodyPr wrap="square">
            <a:spAutoFit/>
          </a:bodyPr>
          <a:lstStyle/>
          <a:p>
            <a:pPr lvl="0">
              <a:spcBef>
                <a:spcPct val="0"/>
              </a:spcBef>
              <a:defRPr/>
            </a:pPr>
            <a:endParaRPr lang="en-US" dirty="0"/>
          </a:p>
          <a:p>
            <a:pPr lvl="0">
              <a:spcBef>
                <a:spcPct val="0"/>
              </a:spcBef>
              <a:defRPr/>
            </a:pPr>
            <a:endParaRPr lang="en-US" dirty="0"/>
          </a:p>
          <a:p>
            <a:pPr lvl="0">
              <a:spcBef>
                <a:spcPct val="0"/>
              </a:spcBef>
              <a:defRPr/>
            </a:pPr>
            <a:endParaRPr lang="en-US" dirty="0"/>
          </a:p>
          <a:p>
            <a:pPr lvl="0">
              <a:spcBef>
                <a:spcPct val="0"/>
              </a:spcBef>
              <a:defRPr/>
            </a:pPr>
            <a:endParaRPr lang="en-US" dirty="0"/>
          </a:p>
        </p:txBody>
      </p:sp>
      <p:sp>
        <p:nvSpPr>
          <p:cNvPr id="5" name="Text Box 4"/>
          <p:cNvSpPr txBox="1"/>
          <p:nvPr/>
        </p:nvSpPr>
        <p:spPr>
          <a:xfrm>
            <a:off x="699135" y="1417320"/>
            <a:ext cx="7911465" cy="5632311"/>
          </a:xfrm>
          <a:prstGeom prst="rect">
            <a:avLst/>
          </a:prstGeom>
          <a:noFill/>
        </p:spPr>
        <p:txBody>
          <a:bodyPr wrap="square" rtlCol="0">
            <a:spAutoFit/>
          </a:bodyPr>
          <a:lstStyle/>
          <a:p>
            <a:pPr marL="342900" indent="-342900" algn="just">
              <a:buAutoNum type="arabicPeriod"/>
            </a:pPr>
            <a:r>
              <a:rPr lang="en-US" altLang="en-US" dirty="0">
                <a:latin typeface="Times New Roman" panose="02020603050405020304" pitchFamily="18" charset="0"/>
                <a:cs typeface="Times New Roman" panose="02020603050405020304" pitchFamily="18" charset="0"/>
              </a:rPr>
              <a:t>Data Collection &amp; Preprocessing: Collect historical and real-time stock market data from APIs (like Yahoo Finance, Alpha Vantage) and preprocess it by handling missing values, normalizing features, and generating technical indicators such as moving averages, RSI, and MACD.</a:t>
            </a: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altLang="en-US" dirty="0">
                <a:latin typeface="Times New Roman" panose="02020603050405020304" pitchFamily="18" charset="0"/>
                <a:cs typeface="Times New Roman" panose="02020603050405020304" pitchFamily="18" charset="0"/>
              </a:rPr>
              <a:t>Exploratory Data Analysis (EDA) &amp; Visualization: Use data visualization tools (Matplotlib, Seaborn, </a:t>
            </a:r>
            <a:r>
              <a:rPr lang="en-US" altLang="en-US" dirty="0" err="1">
                <a:latin typeface="Times New Roman" panose="02020603050405020304" pitchFamily="18" charset="0"/>
                <a:cs typeface="Times New Roman" panose="02020603050405020304" pitchFamily="18" charset="0"/>
              </a:rPr>
              <a:t>Plotly</a:t>
            </a:r>
            <a:r>
              <a:rPr lang="en-US" altLang="en-US" dirty="0">
                <a:latin typeface="Times New Roman" panose="02020603050405020304" pitchFamily="18" charset="0"/>
                <a:cs typeface="Times New Roman" panose="02020603050405020304" pitchFamily="18" charset="0"/>
              </a:rPr>
              <a:t>) to identify patterns, correlations, and trends in stock prices. Interactive dashboards are created to provide insights into stock behavior over time.</a:t>
            </a: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altLang="en-US" dirty="0">
                <a:latin typeface="Times New Roman" panose="02020603050405020304" pitchFamily="18" charset="0"/>
                <a:cs typeface="Times New Roman" panose="02020603050405020304" pitchFamily="18" charset="0"/>
              </a:rPr>
              <a:t>Feature Engineering &amp; Selection: Extract relevant features from historical data, including price changes, trading volume, and derived indicators, and select features that improve model accuracy.</a:t>
            </a: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altLang="en-US" dirty="0">
                <a:latin typeface="Times New Roman" panose="02020603050405020304" pitchFamily="18" charset="0"/>
                <a:cs typeface="Times New Roman" panose="02020603050405020304" pitchFamily="18" charset="0"/>
              </a:rPr>
              <a:t>Machine Learning / Deep Learning Modeling: Apply supervised learning models like Random Forest, SVM, </a:t>
            </a:r>
            <a:r>
              <a:rPr lang="en-US" altLang="en-US" dirty="0" err="1">
                <a:latin typeface="Times New Roman" panose="02020603050405020304" pitchFamily="18" charset="0"/>
                <a:cs typeface="Times New Roman" panose="02020603050405020304" pitchFamily="18" charset="0"/>
              </a:rPr>
              <a:t>XGBoost</a:t>
            </a:r>
            <a:r>
              <a:rPr lang="en-US" altLang="en-US" dirty="0">
                <a:latin typeface="Times New Roman" panose="02020603050405020304" pitchFamily="18" charset="0"/>
                <a:cs typeface="Times New Roman" panose="02020603050405020304" pitchFamily="18" charset="0"/>
              </a:rPr>
              <a:t>, and deep learning models like LSTM or ANN for time series forecasting and trend prediction. Train and validate models on historical data.</a:t>
            </a: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altLang="en-US" dirty="0">
              <a:latin typeface="Times New Roman" panose="02020603050405020304" pitchFamily="18" charset="0"/>
              <a:cs typeface="Times New Roman" panose="02020603050405020304" pitchFamily="18" charset="0"/>
            </a:endParaRPr>
          </a:p>
          <a:p>
            <a:pPr marL="342900" indent="-342900" algn="just">
              <a:buAutoNum type="arabicPeriod"/>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asdfgh"/>
          <p:cNvPicPr>
            <a:picLocks noChangeAspect="1"/>
          </p:cNvPicPr>
          <p:nvPr/>
        </p:nvPicPr>
        <p:blipFill>
          <a:blip r:embed="rId1"/>
          <a:stretch>
            <a:fillRect/>
          </a:stretch>
        </p:blipFill>
        <p:spPr>
          <a:xfrm>
            <a:off x="2286000" y="1094740"/>
            <a:ext cx="4572000" cy="6365875"/>
          </a:xfrm>
          <a:prstGeom prst="rect">
            <a:avLst/>
          </a:prstGeom>
        </p:spPr>
      </p:pic>
      <p:sp>
        <p:nvSpPr>
          <p:cNvPr id="3" name="Text Box 2"/>
          <p:cNvSpPr txBox="1"/>
          <p:nvPr/>
        </p:nvSpPr>
        <p:spPr>
          <a:xfrm>
            <a:off x="1800225" y="269240"/>
            <a:ext cx="5756275" cy="583565"/>
          </a:xfrm>
          <a:prstGeom prst="rect">
            <a:avLst/>
          </a:prstGeom>
          <a:noFill/>
        </p:spPr>
        <p:txBody>
          <a:bodyPr wrap="square" rtlCol="0">
            <a:spAutoFit/>
          </a:bodyPr>
          <a:p>
            <a:r>
              <a:rPr lang="en-IN" altLang="en-US" sz="3200">
                <a:latin typeface="Times New Roman" panose="02020603050405020304" pitchFamily="18" charset="0"/>
                <a:cs typeface="Times New Roman" panose="02020603050405020304" pitchFamily="18" charset="0"/>
              </a:rPr>
              <a:t>ARCHITECTURE  DIAGRAM</a:t>
            </a:r>
            <a:endParaRPr lang="en-IN"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45765" y="481965"/>
            <a:ext cx="3048000" cy="583565"/>
          </a:xfrm>
          <a:prstGeom prst="rect">
            <a:avLst/>
          </a:prstGeom>
          <a:noFill/>
        </p:spPr>
        <p:txBody>
          <a:bodyPr wrap="square" rtlCol="0">
            <a:spAutoFit/>
          </a:bodyPr>
          <a:p>
            <a:r>
              <a:rPr lang="en-IN" altLang="en-US" sz="3200">
                <a:latin typeface="Times New Roman" panose="02020603050405020304" pitchFamily="18" charset="0"/>
                <a:cs typeface="Times New Roman" panose="02020603050405020304" pitchFamily="18" charset="0"/>
              </a:rPr>
              <a:t>ALGORITHM</a:t>
            </a:r>
            <a:endParaRPr lang="en-IN" altLang="en-US" sz="3200">
              <a:latin typeface="Times New Roman" panose="02020603050405020304" pitchFamily="18" charset="0"/>
              <a:cs typeface="Times New Roman" panose="02020603050405020304" pitchFamily="18" charset="0"/>
            </a:endParaRPr>
          </a:p>
        </p:txBody>
      </p:sp>
      <p:sp>
        <p:nvSpPr>
          <p:cNvPr id="3" name="Text Box 2"/>
          <p:cNvSpPr txBox="1"/>
          <p:nvPr/>
        </p:nvSpPr>
        <p:spPr>
          <a:xfrm>
            <a:off x="1042035" y="1167765"/>
            <a:ext cx="7570470" cy="4840605"/>
          </a:xfrm>
          <a:prstGeom prst="rect">
            <a:avLst/>
          </a:prstGeom>
          <a:noFill/>
        </p:spPr>
        <p:txBody>
          <a:bodyPr wrap="square" rtlCol="0">
            <a:noAutofit/>
          </a:bodyPr>
          <a:p>
            <a:pPr indent="0">
              <a:lnSpc>
                <a:spcPct val="110000"/>
              </a:lnSpc>
              <a:buFont typeface="Arial" panose="020B0604020202020204" pitchFamily="34" charset="0"/>
              <a:buNone/>
            </a:pPr>
            <a:r>
              <a:rPr lang="en-US" altLang="en-US" b="1"/>
              <a:t>XGBoost (Extreme Gradient Boosting)</a:t>
            </a:r>
            <a:endParaRPr lang="en-US" altLang="en-US" b="1"/>
          </a:p>
          <a:p>
            <a:pPr marL="285750" indent="-285750">
              <a:lnSpc>
                <a:spcPct val="110000"/>
              </a:lnSpc>
              <a:buFont typeface="Wingdings" panose="05000000000000000000" charset="0"/>
              <a:buChar char="Ø"/>
            </a:pPr>
            <a:r>
              <a:rPr lang="en-US" altLang="en-US"/>
              <a:t>XGBoost is an advanced ensemble machine learning algorithm based on gradient boosting. It combines multiple weak models (decision trees) to create a strong predictive model.</a:t>
            </a:r>
            <a:endParaRPr lang="en-US" altLang="en-US"/>
          </a:p>
          <a:p>
            <a:pPr marL="285750" indent="-285750">
              <a:lnSpc>
                <a:spcPct val="110000"/>
              </a:lnSpc>
              <a:buFont typeface="Wingdings" panose="05000000000000000000" charset="0"/>
              <a:buChar char="Ø"/>
            </a:pPr>
            <a:r>
              <a:rPr lang="en-US" altLang="en-US"/>
              <a:t>How XGBoost Works (Brief):</a:t>
            </a:r>
            <a:endParaRPr lang="en-US" altLang="en-US"/>
          </a:p>
          <a:p>
            <a:pPr marL="285750" indent="-285750">
              <a:lnSpc>
                <a:spcPct val="110000"/>
              </a:lnSpc>
              <a:buFont typeface="Wingdings" panose="05000000000000000000" charset="0"/>
              <a:buChar char="Ø"/>
            </a:pPr>
            <a:r>
              <a:rPr lang="en-US" altLang="en-US"/>
              <a:t>Builds models sequentially</a:t>
            </a:r>
            <a:endParaRPr lang="en-US" altLang="en-US"/>
          </a:p>
          <a:p>
            <a:pPr marL="285750" indent="-285750">
              <a:lnSpc>
                <a:spcPct val="110000"/>
              </a:lnSpc>
              <a:buFont typeface="Wingdings" panose="05000000000000000000" charset="0"/>
              <a:buChar char="Ø"/>
            </a:pPr>
            <a:r>
              <a:rPr lang="en-US" altLang="en-US"/>
              <a:t>Each new tree corrects the errors of the previous one</a:t>
            </a:r>
            <a:endParaRPr lang="en-US" altLang="en-US"/>
          </a:p>
          <a:p>
            <a:pPr marL="285750" indent="-285750">
              <a:lnSpc>
                <a:spcPct val="110000"/>
              </a:lnSpc>
              <a:buFont typeface="Wingdings" panose="05000000000000000000" charset="0"/>
              <a:buChar char="Ø"/>
            </a:pPr>
            <a:r>
              <a:rPr lang="en-US" altLang="en-US"/>
              <a:t>Uses gradient descent to minimize prediction error</a:t>
            </a:r>
            <a:endParaRPr lang="en-US" altLang="en-US"/>
          </a:p>
          <a:p>
            <a:pPr marL="285750" indent="-285750">
              <a:lnSpc>
                <a:spcPct val="110000"/>
              </a:lnSpc>
              <a:buFont typeface="Wingdings" panose="05000000000000000000" charset="0"/>
              <a:buChar char="Ø"/>
            </a:pPr>
            <a:r>
              <a:rPr lang="en-US" altLang="en-US"/>
              <a:t>Includes regularization to avoid overfitting</a:t>
            </a:r>
            <a:endParaRPr lang="en-US" altLang="en-US"/>
          </a:p>
          <a:p>
            <a:pPr marL="285750" indent="-285750">
              <a:lnSpc>
                <a:spcPct val="110000"/>
              </a:lnSpc>
              <a:buFont typeface="Wingdings" panose="05000000000000000000" charset="0"/>
              <a:buChar char="Ø"/>
            </a:pPr>
            <a:r>
              <a:rPr lang="en-US" altLang="en-US"/>
              <a:t>Why XGBoost for Stock Market?</a:t>
            </a:r>
            <a:endParaRPr lang="en-US" altLang="en-US"/>
          </a:p>
          <a:p>
            <a:pPr marL="285750" indent="-285750">
              <a:lnSpc>
                <a:spcPct val="110000"/>
              </a:lnSpc>
              <a:buFont typeface="Wingdings" panose="05000000000000000000" charset="0"/>
              <a:buChar char="Ø"/>
            </a:pPr>
            <a:r>
              <a:rPr lang="en-US" altLang="en-US"/>
              <a:t>High accuracy and performance</a:t>
            </a:r>
            <a:endParaRPr lang="en-US" altLang="en-US"/>
          </a:p>
          <a:p>
            <a:pPr marL="285750" indent="-285750">
              <a:lnSpc>
                <a:spcPct val="110000"/>
              </a:lnSpc>
              <a:buFont typeface="Wingdings" panose="05000000000000000000" charset="0"/>
              <a:buChar char="Ø"/>
            </a:pPr>
            <a:r>
              <a:rPr lang="en-US" altLang="en-US"/>
              <a:t>Handles large datasets efficiently</a:t>
            </a:r>
            <a:endParaRPr lang="en-US" altLang="en-US"/>
          </a:p>
          <a:p>
            <a:pPr marL="285750" indent="-285750">
              <a:lnSpc>
                <a:spcPct val="110000"/>
              </a:lnSpc>
              <a:buFont typeface="Wingdings" panose="05000000000000000000" charset="0"/>
              <a:buChar char="Ø"/>
            </a:pPr>
            <a:r>
              <a:rPr lang="en-US" altLang="en-US"/>
              <a:t>Works well with complex and noisy stock data</a:t>
            </a:r>
            <a:endParaRPr lang="en-US" altLang="en-US"/>
          </a:p>
          <a:p>
            <a:pPr marL="285750" indent="-285750">
              <a:lnSpc>
                <a:spcPct val="110000"/>
              </a:lnSpc>
              <a:buFont typeface="Wingdings" panose="05000000000000000000" charset="0"/>
              <a:buChar char="Ø"/>
            </a:pPr>
            <a:r>
              <a:rPr lang="en-US" altLang="en-US"/>
              <a:t>Applications in Our Project:</a:t>
            </a:r>
            <a:endParaRPr lang="en-US" altLang="en-US"/>
          </a:p>
          <a:p>
            <a:pPr marL="285750" indent="-285750">
              <a:lnSpc>
                <a:spcPct val="110000"/>
              </a:lnSpc>
              <a:buFont typeface="Wingdings" panose="05000000000000000000" charset="0"/>
              <a:buChar char="Ø"/>
            </a:pPr>
            <a:r>
              <a:rPr lang="en-US" altLang="en-US"/>
              <a:t>Predict future stock prices</a:t>
            </a:r>
            <a:endParaRPr lang="en-US" altLang="en-US"/>
          </a:p>
          <a:p>
            <a:pPr marL="285750" indent="-285750">
              <a:lnSpc>
                <a:spcPct val="110000"/>
              </a:lnSpc>
              <a:buFont typeface="Wingdings" panose="05000000000000000000" charset="0"/>
              <a:buChar char="Ø"/>
            </a:pPr>
            <a:r>
              <a:rPr lang="en-US" altLang="en-US"/>
              <a:t>Improve prediction accuracy compared to traditional models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02-02 214454"/>
          <p:cNvPicPr>
            <a:picLocks noChangeAspect="1"/>
          </p:cNvPicPr>
          <p:nvPr/>
        </p:nvPicPr>
        <p:blipFill>
          <a:blip r:embed="rId1"/>
          <a:stretch>
            <a:fillRect/>
          </a:stretch>
        </p:blipFill>
        <p:spPr>
          <a:xfrm>
            <a:off x="0" y="1214120"/>
            <a:ext cx="9143365" cy="5644515"/>
          </a:xfrm>
          <a:prstGeom prst="rect">
            <a:avLst/>
          </a:prstGeom>
        </p:spPr>
      </p:pic>
      <p:sp>
        <p:nvSpPr>
          <p:cNvPr id="3" name="Text Box 2"/>
          <p:cNvSpPr txBox="1"/>
          <p:nvPr/>
        </p:nvSpPr>
        <p:spPr>
          <a:xfrm>
            <a:off x="3334385" y="433070"/>
            <a:ext cx="3048000" cy="583565"/>
          </a:xfrm>
          <a:prstGeom prst="rect">
            <a:avLst/>
          </a:prstGeom>
          <a:noFill/>
        </p:spPr>
        <p:txBody>
          <a:bodyPr wrap="square" rtlCol="0">
            <a:spAutoFit/>
          </a:bodyPr>
          <a:p>
            <a:r>
              <a:rPr lang="en-IN" altLang="en-US" sz="3200" b="1"/>
              <a:t>USER INTERFACE</a:t>
            </a:r>
            <a:endParaRPr lang="en-IN" altLang="en-US" sz="32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02-02 214513"/>
          <p:cNvPicPr>
            <a:picLocks noChangeAspect="1"/>
          </p:cNvPicPr>
          <p:nvPr/>
        </p:nvPicPr>
        <p:blipFill>
          <a:blip r:embed="rId1"/>
          <a:stretch>
            <a:fillRect/>
          </a:stretch>
        </p:blipFill>
        <p:spPr>
          <a:xfrm>
            <a:off x="0" y="1349375"/>
            <a:ext cx="9144000" cy="5508625"/>
          </a:xfrm>
          <a:prstGeom prst="rect">
            <a:avLst/>
          </a:prstGeom>
        </p:spPr>
      </p:pic>
      <p:sp>
        <p:nvSpPr>
          <p:cNvPr id="3" name="Text Box 2"/>
          <p:cNvSpPr txBox="1"/>
          <p:nvPr/>
        </p:nvSpPr>
        <p:spPr>
          <a:xfrm>
            <a:off x="430530" y="384810"/>
            <a:ext cx="3048000" cy="583565"/>
          </a:xfrm>
          <a:prstGeom prst="rect">
            <a:avLst/>
          </a:prstGeom>
          <a:noFill/>
        </p:spPr>
        <p:txBody>
          <a:bodyPr wrap="square" rtlCol="0">
            <a:spAutoFit/>
          </a:bodyPr>
          <a:p>
            <a:r>
              <a:rPr lang="en-IN" altLang="en-US" sz="3200" b="1">
                <a:latin typeface="Times New Roman" panose="02020603050405020304" pitchFamily="18" charset="0"/>
                <a:cs typeface="Times New Roman" panose="02020603050405020304" pitchFamily="18" charset="0"/>
              </a:rPr>
              <a:t>HOME PAGE</a:t>
            </a:r>
            <a:endParaRPr lang="en-IN" altLang="en-US"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Users/gurur/Pictures/Screenshots/Screenshot 2026-02-02 215519.pngScreenshot 2026-02-02 215519"/>
          <p:cNvPicPr>
            <a:picLocks noChangeAspect="1"/>
          </p:cNvPicPr>
          <p:nvPr/>
        </p:nvPicPr>
        <p:blipFill>
          <a:blip r:embed="rId1"/>
          <a:srcRect l="27" r="27"/>
          <a:stretch>
            <a:fillRect/>
          </a:stretch>
        </p:blipFill>
        <p:spPr>
          <a:xfrm>
            <a:off x="0" y="1663065"/>
            <a:ext cx="9144000" cy="4650740"/>
          </a:xfrm>
          <a:prstGeom prst="rect">
            <a:avLst/>
          </a:prstGeom>
        </p:spPr>
      </p:pic>
      <p:sp>
        <p:nvSpPr>
          <p:cNvPr id="3" name="Text Box 2"/>
          <p:cNvSpPr txBox="1"/>
          <p:nvPr/>
        </p:nvSpPr>
        <p:spPr>
          <a:xfrm>
            <a:off x="981075" y="694055"/>
            <a:ext cx="5835015" cy="860425"/>
          </a:xfrm>
          <a:prstGeom prst="rect">
            <a:avLst/>
          </a:prstGeom>
          <a:noFill/>
        </p:spPr>
        <p:txBody>
          <a:bodyPr wrap="square" rtlCol="0">
            <a:spAutoFit/>
          </a:bodyPr>
          <a:p>
            <a:r>
              <a:rPr lang="en-IN" altLang="en-US" sz="3200">
                <a:latin typeface="Times New Roman" panose="02020603050405020304" pitchFamily="18" charset="0"/>
                <a:cs typeface="Times New Roman" panose="02020603050405020304" pitchFamily="18" charset="0"/>
              </a:rPr>
              <a:t>RESULTS : </a:t>
            </a:r>
            <a:endParaRPr lang="en-IN" altLang="en-US" sz="3200">
              <a:latin typeface="Times New Roman" panose="02020603050405020304" pitchFamily="18" charset="0"/>
              <a:cs typeface="Times New Roman" panose="02020603050405020304" pitchFamily="18" charset="0"/>
            </a:endParaRPr>
          </a:p>
          <a:p>
            <a:r>
              <a:rPr lang="en-IN" altLang="en-US">
                <a:latin typeface="Times New Roman" panose="02020603050405020304" pitchFamily="18" charset="0"/>
                <a:cs typeface="Times New Roman" panose="02020603050405020304" pitchFamily="18" charset="0"/>
              </a:rPr>
              <a:t>TESLA  STOCK  MARKET  TREND  ANALYSIS</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C:/Users/gurur/Pictures/Screenshots/Screenshot 2026-02-02 215758.pngScreenshot 2026-02-02 215758"/>
          <p:cNvPicPr>
            <a:picLocks noChangeAspect="1"/>
          </p:cNvPicPr>
          <p:nvPr/>
        </p:nvPicPr>
        <p:blipFill>
          <a:blip r:embed="rId1"/>
          <a:srcRect l="576" r="576"/>
          <a:stretch>
            <a:fillRect/>
          </a:stretch>
        </p:blipFill>
        <p:spPr>
          <a:xfrm>
            <a:off x="0" y="1642745"/>
            <a:ext cx="9144000" cy="5215255"/>
          </a:xfrm>
          <a:prstGeom prst="rect">
            <a:avLst/>
          </a:prstGeom>
        </p:spPr>
      </p:pic>
      <p:sp>
        <p:nvSpPr>
          <p:cNvPr id="4" name="Text Box 3"/>
          <p:cNvSpPr txBox="1"/>
          <p:nvPr/>
        </p:nvSpPr>
        <p:spPr>
          <a:xfrm>
            <a:off x="961390" y="848360"/>
            <a:ext cx="7051040" cy="368300"/>
          </a:xfrm>
          <a:prstGeom prst="rect">
            <a:avLst/>
          </a:prstGeom>
          <a:noFill/>
        </p:spPr>
        <p:txBody>
          <a:bodyPr wrap="square" rtlCol="0">
            <a:spAutoFit/>
          </a:bodyPr>
          <a:p>
            <a:r>
              <a:rPr lang="en-IN" altLang="en-US">
                <a:latin typeface="Times New Roman" panose="02020603050405020304" pitchFamily="18" charset="0"/>
                <a:cs typeface="Times New Roman" panose="02020603050405020304" pitchFamily="18" charset="0"/>
              </a:rPr>
              <a:t>TESLA  STOCK  MACHINE  LEARNING  PREDICTION</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1190" y="386080"/>
            <a:ext cx="3048000" cy="460375"/>
          </a:xfrm>
          <a:prstGeom prst="rect">
            <a:avLst/>
          </a:prstGeom>
          <a:noFill/>
        </p:spPr>
        <p:txBody>
          <a:bodyPr wrap="square" rtlCol="0">
            <a:spAutoFit/>
          </a:bodyPr>
          <a:p>
            <a:r>
              <a:rPr lang="en-IN" altLang="en-US" sz="2400" b="1">
                <a:latin typeface="Times New Roman" panose="02020603050405020304" pitchFamily="18" charset="0"/>
                <a:cs typeface="Times New Roman" panose="02020603050405020304" pitchFamily="18" charset="0"/>
              </a:rPr>
              <a:t>DASHBOARD</a:t>
            </a:r>
            <a:endParaRPr lang="en-IN" altLang="en-US" sz="2400" b="1">
              <a:latin typeface="Times New Roman" panose="02020603050405020304" pitchFamily="18" charset="0"/>
              <a:cs typeface="Times New Roman" panose="02020603050405020304" pitchFamily="18" charset="0"/>
            </a:endParaRPr>
          </a:p>
        </p:txBody>
      </p:sp>
      <p:pic>
        <p:nvPicPr>
          <p:cNvPr id="3" name="Picture 2" descr="C:/Users/gurur/Pictures/Screenshots/Screenshot 2026-02-02 220300.pngScreenshot 2026-02-02 220300"/>
          <p:cNvPicPr>
            <a:picLocks noChangeAspect="1"/>
          </p:cNvPicPr>
          <p:nvPr/>
        </p:nvPicPr>
        <p:blipFill>
          <a:blip r:embed="rId1"/>
          <a:srcRect t="57" b="-462"/>
          <a:stretch>
            <a:fillRect/>
          </a:stretch>
        </p:blipFill>
        <p:spPr>
          <a:xfrm>
            <a:off x="0" y="991235"/>
            <a:ext cx="9144000" cy="58667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02-02 220335"/>
          <p:cNvPicPr>
            <a:picLocks noChangeAspect="1"/>
          </p:cNvPicPr>
          <p:nvPr/>
        </p:nvPicPr>
        <p:blipFill>
          <a:blip r:embed="rId1"/>
          <a:stretch>
            <a:fillRect/>
          </a:stretch>
        </p:blipFill>
        <p:spPr>
          <a:xfrm>
            <a:off x="0" y="635"/>
            <a:ext cx="9144000" cy="68573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5181</Words>
  <Application>WPS Presentation</Application>
  <PresentationFormat>Widescreen</PresentationFormat>
  <Paragraphs>70</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Calibri Light</vt:lpstr>
      <vt:lpstr>Calibri</vt:lpstr>
      <vt:lpstr>Microsoft YaHei</vt:lpstr>
      <vt:lpstr>Arial Unicode MS</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Nandialamalam Teja</cp:lastModifiedBy>
  <cp:revision>3</cp:revision>
  <dcterms:created xsi:type="dcterms:W3CDTF">2025-07-23T00:59:00Z</dcterms:created>
  <dcterms:modified xsi:type="dcterms:W3CDTF">2026-02-02T16:38:51Z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8466A4985F9C4F7A92AB6DE712F4EA02_11</vt:lpwstr>
  </property>
  <property fmtid="{D5CDD505-2E9C-101B-9397-08002B2CF9AE}" pid="3" name="KSOProductBuildVer">
    <vt:lpwstr>1033-12.2.0.23196</vt:lpwstr>
  </property>
</Properties>
</file>